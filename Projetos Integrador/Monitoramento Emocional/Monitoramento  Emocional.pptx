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d4c539c2b1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d4c539c2b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d4c539c2b1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d4c539c2b1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d4c539c2b1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d4c539c2b1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d4c539c2b1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d4c539c2b1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d4c539c2b1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d4c539c2b1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d4c539c2b1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d4c539c2b1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d4c539c2b1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d4c539c2b1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d4c539c2b1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d4c539c2b1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progep.ufpa.br/progep/documentos/dsqv/CARTILHA-Saude-emocional.pdf" TargetMode="External"/><Relationship Id="rId4" Type="http://schemas.openxmlformats.org/officeDocument/2006/relationships/hyperlink" Target="https://www.gov.br/saude/pt-br/assuntos/saude-de-a-a-z/s/saude-mental/saude-mental-em-dados" TargetMode="External"/><Relationship Id="rId5" Type="http://schemas.openxmlformats.org/officeDocument/2006/relationships/hyperlink" Target="https://www.who.int/news-room/fact-sheets/detail/mental-disorders" TargetMode="External"/><Relationship Id="rId6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localhost:8501/" TargetMode="External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98910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Monitoramento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Emocional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                 </a:t>
            </a:r>
            <a:r>
              <a:rPr lang="pt-BR" sz="2132"/>
              <a:t>                                Mônica Cardoso</a:t>
            </a:r>
            <a:br>
              <a:rPr lang="pt-BR" sz="2132"/>
            </a:br>
            <a:r>
              <a:rPr lang="pt-BR" sz="2132"/>
              <a:t>                                         </a:t>
            </a:r>
            <a:r>
              <a:rPr b="1" lang="pt-BR" sz="2132"/>
              <a:t>Turma: </a:t>
            </a:r>
            <a:r>
              <a:rPr lang="pt-BR" sz="2132"/>
              <a:t>2025.07.91- Analista de Dados</a:t>
            </a:r>
            <a:endParaRPr sz="2132"/>
          </a:p>
        </p:txBody>
      </p:sp>
      <p:pic>
        <p:nvPicPr>
          <p:cNvPr id="56" name="Google Shape;56;p13" title="image-removebg-preview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250" y="850721"/>
            <a:ext cx="1391550" cy="287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CONTEXTUALIZAÇÃO E PROBLEMA</a:t>
            </a:r>
            <a:endParaRPr b="1"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100">
                <a:solidFill>
                  <a:schemeClr val="dk1"/>
                </a:solidFill>
              </a:rPr>
              <a:t>Contexto:</a:t>
            </a:r>
            <a:br>
              <a:rPr b="1" lang="pt-BR" sz="1100">
                <a:solidFill>
                  <a:schemeClr val="dk1"/>
                </a:solidFill>
              </a:rPr>
            </a:br>
            <a:r>
              <a:rPr lang="pt-BR" sz="1100">
                <a:solidFill>
                  <a:schemeClr val="dk1"/>
                </a:solidFill>
              </a:rPr>
              <a:t>O monitoramento da saúde emocional é essencial. Esse monitoramento ajuda na </a:t>
            </a:r>
            <a:r>
              <a:rPr lang="pt-BR" sz="1100">
                <a:solidFill>
                  <a:schemeClr val="dk1"/>
                </a:solidFill>
              </a:rPr>
              <a:t>investigação</a:t>
            </a:r>
            <a:r>
              <a:rPr lang="pt-BR" sz="1100">
                <a:solidFill>
                  <a:schemeClr val="dk1"/>
                </a:solidFill>
              </a:rPr>
              <a:t> de </a:t>
            </a:r>
            <a:r>
              <a:rPr lang="pt-BR" sz="1100">
                <a:solidFill>
                  <a:schemeClr val="dk1"/>
                </a:solidFill>
              </a:rPr>
              <a:t>possíveis</a:t>
            </a:r>
            <a:r>
              <a:rPr lang="pt-BR" sz="1100">
                <a:solidFill>
                  <a:schemeClr val="dk1"/>
                </a:solidFill>
              </a:rPr>
              <a:t> transtornos e tratamento adequado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chemeClr val="dk1"/>
                </a:solidFill>
              </a:rPr>
              <a:t>Problema:</a:t>
            </a:r>
            <a:br>
              <a:rPr b="1" lang="pt-BR" sz="1100">
                <a:solidFill>
                  <a:schemeClr val="dk1"/>
                </a:solidFill>
              </a:rPr>
            </a:br>
            <a:r>
              <a:rPr lang="pt-BR" sz="1100">
                <a:solidFill>
                  <a:schemeClr val="dk1"/>
                </a:solidFill>
              </a:rPr>
              <a:t>1. A maioria das pessoas não consegue monitorar seu estado emocional de forma estruturada, dificultando a identificação de padrões e possíveis sinais de alerta.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chemeClr val="dk1"/>
                </a:solidFill>
              </a:rPr>
              <a:t>2. A maioria dos aplicativos exige muitas perguntas e interações complexas, o que gera cansaço e reduz a adesão do usuário.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100">
                <a:solidFill>
                  <a:schemeClr val="dk1"/>
                </a:solidFill>
              </a:rPr>
              <a:t>Relevância:</a:t>
            </a:r>
            <a:br>
              <a:rPr b="1" lang="pt-BR" sz="1100">
                <a:solidFill>
                  <a:schemeClr val="dk1"/>
                </a:solidFill>
              </a:rPr>
            </a:br>
            <a:r>
              <a:rPr lang="pt-BR" sz="1100">
                <a:solidFill>
                  <a:schemeClr val="dk1"/>
                </a:solidFill>
              </a:rPr>
              <a:t> A falta de acompanhamento pode levar a crises emocionais evitáveis e tratamentos menos </a:t>
            </a:r>
            <a:r>
              <a:rPr lang="pt-BR" sz="1100">
                <a:solidFill>
                  <a:schemeClr val="dk1"/>
                </a:solidFill>
              </a:rPr>
              <a:t>eficazes</a:t>
            </a:r>
            <a:r>
              <a:rPr lang="pt-BR" sz="1100">
                <a:solidFill>
                  <a:schemeClr val="dk1"/>
                </a:solidFill>
              </a:rPr>
              <a:t>.</a:t>
            </a:r>
            <a:br>
              <a:rPr lang="pt-BR" sz="1100">
                <a:solidFill>
                  <a:schemeClr val="dk1"/>
                </a:solidFill>
              </a:rPr>
            </a:br>
            <a:r>
              <a:rPr lang="pt-BR" sz="1100">
                <a:solidFill>
                  <a:schemeClr val="dk1"/>
                </a:solidFill>
              </a:rPr>
              <a:t> Soluções mais simples e objetivas aumentam a frequência de uso e melhoram a qualidade dos dados coletados.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 rotWithShape="1">
          <a:blip r:embed="rId3">
            <a:alphaModFix/>
          </a:blip>
          <a:srcRect b="77254" l="53577" r="0" t="2813"/>
          <a:stretch/>
        </p:blipFill>
        <p:spPr>
          <a:xfrm>
            <a:off x="7868125" y="64575"/>
            <a:ext cx="1171750" cy="103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 rotWithShape="1">
          <a:blip r:embed="rId3">
            <a:alphaModFix/>
          </a:blip>
          <a:srcRect b="22766" l="50378" r="3199" t="57300"/>
          <a:stretch/>
        </p:blipFill>
        <p:spPr>
          <a:xfrm>
            <a:off x="7452950" y="345200"/>
            <a:ext cx="1171750" cy="103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ORIGEM DOS DADOS E ÉTICA</a:t>
            </a:r>
            <a:endParaRPr b="1"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100">
                <a:solidFill>
                  <a:schemeClr val="dk1"/>
                </a:solidFill>
              </a:rPr>
              <a:t>Fonte dos dados:</a:t>
            </a:r>
            <a:br>
              <a:rPr b="1" lang="pt-BR" sz="1100">
                <a:solidFill>
                  <a:schemeClr val="dk1"/>
                </a:solidFill>
              </a:rPr>
            </a:br>
            <a:r>
              <a:rPr lang="pt-BR" sz="1100">
                <a:solidFill>
                  <a:schemeClr val="dk1"/>
                </a:solidFill>
              </a:rPr>
              <a:t>Dados simulados com base em registros reais do usuário (auto-relato diário)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100">
                <a:solidFill>
                  <a:schemeClr val="dk1"/>
                </a:solidFill>
              </a:rPr>
              <a:t>Descrição: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 sz="1100">
                <a:solidFill>
                  <a:schemeClr val="dk1"/>
                </a:solidFill>
              </a:rPr>
              <a:t>Registros diários com </a:t>
            </a:r>
            <a:r>
              <a:rPr lang="pt-BR" sz="1100">
                <a:solidFill>
                  <a:schemeClr val="dk1"/>
                </a:solidFill>
              </a:rPr>
              <a:t>acompanhamento</a:t>
            </a:r>
            <a:r>
              <a:rPr lang="pt-BR" sz="1100">
                <a:solidFill>
                  <a:schemeClr val="dk1"/>
                </a:solidFill>
              </a:rPr>
              <a:t> de data.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 sz="1100">
                <a:solidFill>
                  <a:schemeClr val="dk1"/>
                </a:solidFill>
              </a:rPr>
              <a:t>Variáveis: bem-estar, energia, felicidade, ansiedade, estresse, rritabilidade, sono e medicação.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chemeClr val="dk1"/>
                </a:solidFill>
              </a:rPr>
              <a:t>Ética / LGPD: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 sz="1100">
                <a:solidFill>
                  <a:schemeClr val="dk1"/>
                </a:solidFill>
              </a:rPr>
              <a:t> Uso individual (privado)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 sz="1100">
                <a:solidFill>
                  <a:schemeClr val="dk1"/>
                </a:solidFill>
              </a:rPr>
              <a:t> Sem identificação sensível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 sz="1100">
                <a:solidFill>
                  <a:schemeClr val="dk1"/>
                </a:solidFill>
              </a:rPr>
              <a:t>Controle total pelo usuário</a:t>
            </a:r>
            <a:br>
              <a:rPr lang="pt-BR" sz="1100">
                <a:solidFill>
                  <a:schemeClr val="dk1"/>
                </a:solidFill>
              </a:rPr>
            </a:br>
            <a:br>
              <a:rPr lang="pt-B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1" name="Google Shape;71;p15"/>
          <p:cNvPicPr preferRelativeResize="0"/>
          <p:nvPr/>
        </p:nvPicPr>
        <p:blipFill rotWithShape="1">
          <a:blip r:embed="rId3">
            <a:alphaModFix/>
          </a:blip>
          <a:srcRect b="41344" l="53452" r="0" t="40270"/>
          <a:stretch/>
        </p:blipFill>
        <p:spPr>
          <a:xfrm>
            <a:off x="7887025" y="72050"/>
            <a:ext cx="1159125" cy="945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02400" y="2845598"/>
            <a:ext cx="5672802" cy="123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SOLUÇÃO DESENVOLVIDA</a:t>
            </a:r>
            <a:endParaRPr b="1"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chemeClr val="dk1"/>
                </a:solidFill>
              </a:rPr>
              <a:t>Foi desenvolvido um sistema de monitoramento emocional com: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</a:rPr>
              <a:t>✔ Registro diário (obtenção dos dados)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</a:rPr>
              <a:t>✔ Cálculo Sono</a:t>
            </a:r>
            <a:br>
              <a:rPr lang="pt-BR" sz="1100">
                <a:solidFill>
                  <a:schemeClr val="dk1"/>
                </a:solidFill>
              </a:rPr>
            </a:br>
            <a:r>
              <a:rPr lang="pt-BR" sz="1100">
                <a:solidFill>
                  <a:schemeClr val="dk1"/>
                </a:solidFill>
              </a:rPr>
              <a:t> ✔ Cálculo de score emocional 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 sz="1100">
                <a:solidFill>
                  <a:schemeClr val="dk1"/>
                </a:solidFill>
              </a:rPr>
              <a:t>Evolução do score ao longo do tempo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 sz="1100">
                <a:solidFill>
                  <a:schemeClr val="dk1"/>
                </a:solidFill>
              </a:rPr>
              <a:t>Relação entre sono e estado emocional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 sz="1100">
                <a:solidFill>
                  <a:schemeClr val="dk1"/>
                </a:solidFill>
              </a:rPr>
              <a:t>Impacto de energia + sono no risco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pt-BR" sz="1100">
                <a:solidFill>
                  <a:schemeClr val="dk1"/>
                </a:solidFill>
              </a:rPr>
            </a:br>
            <a:r>
              <a:rPr lang="pt-BR" sz="1100">
                <a:solidFill>
                  <a:schemeClr val="dk1"/>
                </a:solidFill>
              </a:rPr>
              <a:t> ✔ Classificação de estado emocional</a:t>
            </a:r>
            <a:br>
              <a:rPr lang="pt-BR" sz="1100">
                <a:solidFill>
                  <a:schemeClr val="dk1"/>
                </a:solidFill>
              </a:rPr>
            </a:br>
            <a:r>
              <a:rPr lang="pt-BR" sz="1100">
                <a:solidFill>
                  <a:schemeClr val="dk1"/>
                </a:solidFill>
              </a:rPr>
              <a:t> ✔ Previsão com Machine Learning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100">
                <a:solidFill>
                  <a:schemeClr val="dk1"/>
                </a:solidFill>
              </a:rPr>
              <a:t>Problema que resolve:</a:t>
            </a:r>
            <a:br>
              <a:rPr b="1" lang="pt-BR" sz="1100">
                <a:solidFill>
                  <a:schemeClr val="dk1"/>
                </a:solidFill>
              </a:rPr>
            </a:br>
            <a:r>
              <a:rPr lang="pt-BR" sz="1100">
                <a:solidFill>
                  <a:schemeClr val="dk1"/>
                </a:solidFill>
              </a:rPr>
              <a:t>Ajuda o usuário a entender padrões emocionais e identificar sinais de alerta antes de crises.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pic>
        <p:nvPicPr>
          <p:cNvPr id="79" name="Google Shape;79;p16"/>
          <p:cNvPicPr preferRelativeResize="0"/>
          <p:nvPr/>
        </p:nvPicPr>
        <p:blipFill rotWithShape="1">
          <a:blip r:embed="rId3">
            <a:alphaModFix/>
          </a:blip>
          <a:srcRect b="0" l="59472" r="0" t="76816"/>
          <a:stretch/>
        </p:blipFill>
        <p:spPr>
          <a:xfrm>
            <a:off x="7990825" y="53050"/>
            <a:ext cx="1009200" cy="119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6"/>
          <p:cNvPicPr preferRelativeResize="0"/>
          <p:nvPr/>
        </p:nvPicPr>
        <p:blipFill rotWithShape="1">
          <a:blip r:embed="rId4">
            <a:alphaModFix/>
          </a:blip>
          <a:srcRect b="0" l="0" r="7655" t="0"/>
          <a:stretch/>
        </p:blipFill>
        <p:spPr>
          <a:xfrm>
            <a:off x="3494375" y="2155656"/>
            <a:ext cx="5453575" cy="7274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FERRAMENTAS</a:t>
            </a:r>
            <a:endParaRPr b="1"/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100">
                <a:solidFill>
                  <a:schemeClr val="dk1"/>
                </a:solidFill>
              </a:rPr>
              <a:t>Ferramentas: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 sz="1100">
                <a:solidFill>
                  <a:schemeClr val="dk1"/>
                </a:solidFill>
              </a:rPr>
              <a:t>Python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 sz="1100">
                <a:solidFill>
                  <a:schemeClr val="dk1"/>
                </a:solidFill>
              </a:rPr>
              <a:t>Pandas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 sz="1100">
                <a:solidFill>
                  <a:schemeClr val="dk1"/>
                </a:solidFill>
              </a:rPr>
              <a:t>Scikit-learn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 sz="1100">
                <a:solidFill>
                  <a:schemeClr val="dk1"/>
                </a:solidFill>
              </a:rPr>
              <a:t>Streamlit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 sz="1100">
                <a:solidFill>
                  <a:schemeClr val="dk1"/>
                </a:solidFill>
              </a:rPr>
              <a:t>Pesquisas sobre sáude mental e bem estar humano (Formatação de regras)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800" u="sng">
                <a:solidFill>
                  <a:schemeClr val="hlink"/>
                </a:solidFill>
                <a:hlinkClick r:id="rId3"/>
              </a:rPr>
              <a:t>https://progep.ufpa.br/progep/documentos/dsqv/CARTILHA-Saude-emocional.pdf</a:t>
            </a:r>
            <a:br>
              <a:rPr lang="pt-BR" sz="1500"/>
            </a:br>
            <a:r>
              <a:rPr lang="pt-BR" sz="800" u="sng">
                <a:solidFill>
                  <a:schemeClr val="hlink"/>
                </a:solidFill>
                <a:hlinkClick r:id="rId4"/>
              </a:rPr>
              <a:t>https://www.gov.br/saude/pt-br/assuntos/saude-de-a-a-z/s/saude-mental/saude-mental-em-dados</a:t>
            </a:r>
            <a:br>
              <a:rPr lang="pt-BR" sz="800">
                <a:solidFill>
                  <a:schemeClr val="dk1"/>
                </a:solidFill>
              </a:rPr>
            </a:br>
            <a:r>
              <a:rPr lang="pt-BR" sz="800" u="sng">
                <a:solidFill>
                  <a:schemeClr val="hlink"/>
                </a:solidFill>
                <a:hlinkClick r:id="rId5"/>
              </a:rPr>
              <a:t>https://www.who.int/news-room/fact-sheets/detail/mental-disorders</a:t>
            </a:r>
            <a:endParaRPr sz="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7" name="Google Shape;87;p17"/>
          <p:cNvPicPr preferRelativeResize="0"/>
          <p:nvPr/>
        </p:nvPicPr>
        <p:blipFill rotWithShape="1">
          <a:blip r:embed="rId6">
            <a:alphaModFix/>
          </a:blip>
          <a:srcRect b="21610" l="56693" r="0" t="57088"/>
          <a:stretch/>
        </p:blipFill>
        <p:spPr>
          <a:xfrm>
            <a:off x="7933150" y="56875"/>
            <a:ext cx="1078400" cy="109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PROCESSO </a:t>
            </a:r>
            <a:endParaRPr b="1"/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 sz="1100">
                <a:solidFill>
                  <a:schemeClr val="dk1"/>
                </a:solidFill>
              </a:rPr>
              <a:t>Coleta manual dos dados: c</a:t>
            </a:r>
            <a:r>
              <a:rPr lang="pt-BR" sz="1100">
                <a:solidFill>
                  <a:schemeClr val="dk1"/>
                </a:solidFill>
              </a:rPr>
              <a:t>oleta dados simples do usuário:  emoções, energia e sono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 sz="1100">
                <a:solidFill>
                  <a:schemeClr val="dk1"/>
                </a:solidFill>
              </a:rPr>
              <a:t>Tratamento com Pandas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 sz="1100">
                <a:solidFill>
                  <a:schemeClr val="dk1"/>
                </a:solidFill>
              </a:rPr>
              <a:t>Cálculo de métricas ( sono, energia e por fim score) 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 sz="1100">
                <a:solidFill>
                  <a:schemeClr val="dk1"/>
                </a:solidFill>
              </a:rPr>
              <a:t>Armazenamento de dados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 sz="1100">
                <a:solidFill>
                  <a:schemeClr val="dk1"/>
                </a:solidFill>
              </a:rPr>
              <a:t>Treinamento do modelo de ML (necessário dados em grande quantidade)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pt-BR" sz="1100">
                <a:solidFill>
                  <a:schemeClr val="dk1"/>
                </a:solidFill>
              </a:rPr>
              <a:t>Machine Learning: </a:t>
            </a:r>
            <a:r>
              <a:rPr lang="pt-BR" sz="1100">
                <a:solidFill>
                  <a:schemeClr val="dk1"/>
                </a:solidFill>
              </a:rPr>
              <a:t>Random Forest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4" name="Google Shape;94;p18"/>
          <p:cNvPicPr preferRelativeResize="0"/>
          <p:nvPr/>
        </p:nvPicPr>
        <p:blipFill rotWithShape="1">
          <a:blip r:embed="rId3">
            <a:alphaModFix/>
          </a:blip>
          <a:srcRect b="59810" l="52058" r="3245" t="23454"/>
          <a:stretch/>
        </p:blipFill>
        <p:spPr>
          <a:xfrm>
            <a:off x="7979300" y="156850"/>
            <a:ext cx="1112975" cy="86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METODOLOGIA E ANÁLISE</a:t>
            </a:r>
            <a:endParaRPr b="1"/>
          </a:p>
        </p:txBody>
      </p:sp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100">
                <a:solidFill>
                  <a:schemeClr val="dk1"/>
                </a:solidFill>
              </a:rPr>
              <a:t>Análise exploratória: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 sz="1100">
                <a:solidFill>
                  <a:schemeClr val="dk1"/>
                </a:solidFill>
              </a:rPr>
              <a:t>Evolução do score ao longo do tempo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 sz="1100">
                <a:solidFill>
                  <a:schemeClr val="dk1"/>
                </a:solidFill>
              </a:rPr>
              <a:t>Relação entre sono e estado emocional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100">
                <a:solidFill>
                  <a:schemeClr val="dk1"/>
                </a:solidFill>
              </a:rPr>
              <a:t>Técnicas: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 sz="1100">
                <a:solidFill>
                  <a:schemeClr val="dk1"/>
                </a:solidFill>
              </a:rPr>
              <a:t>Feature engineering (ex: horas de sono) - Tranformação de dados brutos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 sz="1100">
                <a:solidFill>
                  <a:schemeClr val="dk1"/>
                </a:solidFill>
              </a:rPr>
              <a:t>Classificação com Random Forest (múltiplas árvores</a:t>
            </a:r>
            <a:r>
              <a:rPr lang="pt-BR" sz="1100">
                <a:solidFill>
                  <a:schemeClr val="dk1"/>
                </a:solidFill>
              </a:rPr>
              <a:t> de decisão</a:t>
            </a:r>
            <a:r>
              <a:rPr lang="pt-BR" sz="1100">
                <a:solidFill>
                  <a:schemeClr val="dk1"/>
                </a:solidFill>
              </a:rPr>
              <a:t>) - Váriaveis diferentes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100">
                <a:solidFill>
                  <a:schemeClr val="dk1"/>
                </a:solidFill>
              </a:rPr>
              <a:t>Integração: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 sz="1100">
                <a:solidFill>
                  <a:schemeClr val="dk1"/>
                </a:solidFill>
              </a:rPr>
              <a:t>Streamlit → interface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 sz="1100">
                <a:solidFill>
                  <a:schemeClr val="dk1"/>
                </a:solidFill>
              </a:rPr>
              <a:t>Pandas → tratamento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 sz="1100">
                <a:solidFill>
                  <a:schemeClr val="dk1"/>
                </a:solidFill>
              </a:rPr>
              <a:t>Scikit-learn (ML) → modelo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1" name="Google Shape;101;p19"/>
          <p:cNvPicPr preferRelativeResize="0"/>
          <p:nvPr/>
        </p:nvPicPr>
        <p:blipFill rotWithShape="1">
          <a:blip r:embed="rId3">
            <a:alphaModFix/>
          </a:blip>
          <a:srcRect b="41344" l="53452" r="0" t="40270"/>
          <a:stretch/>
        </p:blipFill>
        <p:spPr>
          <a:xfrm>
            <a:off x="7887025" y="72050"/>
            <a:ext cx="1159125" cy="945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RESULTADOS E DEMONSTRAÇÃO</a:t>
            </a:r>
            <a:endParaRPr b="1"/>
          </a:p>
        </p:txBody>
      </p:sp>
      <p:sp>
        <p:nvSpPr>
          <p:cNvPr id="107" name="Google Shape;10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100">
                <a:solidFill>
                  <a:schemeClr val="dk1"/>
                </a:solidFill>
              </a:rPr>
              <a:t>Principais insights: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 sz="1100">
                <a:solidFill>
                  <a:schemeClr val="dk1"/>
                </a:solidFill>
              </a:rPr>
              <a:t>Pouco sono + alta energia → estado de alerta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 sz="1100">
                <a:solidFill>
                  <a:schemeClr val="dk1"/>
                </a:solidFill>
              </a:rPr>
              <a:t>Alta ansiedade + baixo sono → risco emocional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 sz="1100">
                <a:solidFill>
                  <a:schemeClr val="dk1"/>
                </a:solidFill>
              </a:rPr>
              <a:t>Padrões diários impactam diretamente o estado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chemeClr val="dk1"/>
                </a:solidFill>
              </a:rPr>
              <a:t>Resultado:</a:t>
            </a:r>
            <a:br>
              <a:rPr b="1" lang="pt-BR" sz="1100">
                <a:solidFill>
                  <a:schemeClr val="dk1"/>
                </a:solidFill>
              </a:rPr>
            </a:br>
            <a:r>
              <a:rPr lang="pt-BR" sz="1100">
                <a:solidFill>
                  <a:schemeClr val="dk1"/>
                </a:solidFill>
              </a:rPr>
              <a:t> ✔ Sistema funcional</a:t>
            </a:r>
            <a:br>
              <a:rPr lang="pt-BR" sz="1100">
                <a:solidFill>
                  <a:schemeClr val="dk1"/>
                </a:solidFill>
              </a:rPr>
            </a:br>
            <a:r>
              <a:rPr lang="pt-BR" sz="1100">
                <a:solidFill>
                  <a:schemeClr val="dk1"/>
                </a:solidFill>
              </a:rPr>
              <a:t> ✔ Previsão baseada em dados</a:t>
            </a:r>
            <a:br>
              <a:rPr lang="pt-BR" sz="1100">
                <a:solidFill>
                  <a:schemeClr val="dk1"/>
                </a:solidFill>
              </a:rPr>
            </a:br>
            <a:r>
              <a:rPr lang="pt-BR" sz="1100">
                <a:solidFill>
                  <a:schemeClr val="dk1"/>
                </a:solidFill>
              </a:rPr>
              <a:t> ✔ Interface simples e interativa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 u="sng">
                <a:solidFill>
                  <a:schemeClr val="hlink"/>
                </a:solidFill>
                <a:hlinkClick r:id="rId3"/>
              </a:rPr>
              <a:t>http://localhost:8501/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8" name="Google Shape;108;p20"/>
          <p:cNvPicPr preferRelativeResize="0"/>
          <p:nvPr/>
        </p:nvPicPr>
        <p:blipFill rotWithShape="1">
          <a:blip r:embed="rId4">
            <a:alphaModFix/>
          </a:blip>
          <a:srcRect b="0" l="60861" r="0" t="77264"/>
          <a:stretch/>
        </p:blipFill>
        <p:spPr>
          <a:xfrm>
            <a:off x="8036950" y="76100"/>
            <a:ext cx="974600" cy="116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67250" y="2732129"/>
            <a:ext cx="5695849" cy="169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DESAFIOS E LIMITAÇÕES</a:t>
            </a:r>
            <a:endParaRPr b="1"/>
          </a:p>
        </p:txBody>
      </p:sp>
      <p:sp>
        <p:nvSpPr>
          <p:cNvPr id="115" name="Google Shape;115;p21"/>
          <p:cNvSpPr txBox="1"/>
          <p:nvPr>
            <p:ph idx="1" type="body"/>
          </p:nvPr>
        </p:nvSpPr>
        <p:spPr>
          <a:xfrm>
            <a:off x="311700" y="1394650"/>
            <a:ext cx="4530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150">
                <a:solidFill>
                  <a:schemeClr val="dk1"/>
                </a:solidFill>
              </a:rPr>
              <a:t>Desafios:</a:t>
            </a:r>
            <a:endParaRPr b="1" sz="1150">
              <a:solidFill>
                <a:schemeClr val="dk1"/>
              </a:solidFill>
            </a:endParaRPr>
          </a:p>
          <a:p>
            <a:pPr indent="-30162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50"/>
              <a:buChar char="●"/>
            </a:pPr>
            <a:r>
              <a:rPr lang="pt-BR" sz="1150">
                <a:solidFill>
                  <a:schemeClr val="dk1"/>
                </a:solidFill>
              </a:rPr>
              <a:t>Construção da lógica emocional</a:t>
            </a:r>
            <a:endParaRPr sz="1150">
              <a:solidFill>
                <a:schemeClr val="dk1"/>
              </a:solidFill>
            </a:endParaRPr>
          </a:p>
          <a:p>
            <a:pPr indent="-3016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Char char="●"/>
            </a:pPr>
            <a:r>
              <a:rPr lang="pt-BR" sz="1150">
                <a:solidFill>
                  <a:schemeClr val="dk1"/>
                </a:solidFill>
              </a:rPr>
              <a:t>Definição de regras coerentes</a:t>
            </a:r>
            <a:endParaRPr sz="1150">
              <a:solidFill>
                <a:schemeClr val="dk1"/>
              </a:solidFill>
            </a:endParaRPr>
          </a:p>
          <a:p>
            <a:pPr indent="-3016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Char char="●"/>
            </a:pPr>
            <a:r>
              <a:rPr lang="pt-BR" sz="1150">
                <a:solidFill>
                  <a:schemeClr val="dk1"/>
                </a:solidFill>
              </a:rPr>
              <a:t>Integração com ML</a:t>
            </a:r>
            <a:endParaRPr sz="11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150">
                <a:solidFill>
                  <a:schemeClr val="dk1"/>
                </a:solidFill>
              </a:rPr>
              <a:t>Soluções:</a:t>
            </a:r>
            <a:endParaRPr sz="1150">
              <a:solidFill>
                <a:schemeClr val="dk1"/>
              </a:solidFill>
            </a:endParaRPr>
          </a:p>
          <a:p>
            <a:pPr indent="-30162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50"/>
              <a:buChar char="●"/>
            </a:pPr>
            <a:r>
              <a:rPr lang="pt-BR" sz="1150">
                <a:solidFill>
                  <a:schemeClr val="dk1"/>
                </a:solidFill>
              </a:rPr>
              <a:t>Regras de sono + energia</a:t>
            </a:r>
            <a:endParaRPr sz="1150">
              <a:solidFill>
                <a:schemeClr val="dk1"/>
              </a:solidFill>
            </a:endParaRPr>
          </a:p>
          <a:p>
            <a:pPr indent="-3016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Char char="●"/>
            </a:pPr>
            <a:r>
              <a:rPr lang="pt-BR" sz="1150">
                <a:solidFill>
                  <a:schemeClr val="dk1"/>
                </a:solidFill>
              </a:rPr>
              <a:t>Regras score</a:t>
            </a:r>
            <a:endParaRPr sz="1150">
              <a:solidFill>
                <a:schemeClr val="dk1"/>
              </a:solidFill>
            </a:endParaRPr>
          </a:p>
          <a:p>
            <a:pPr indent="-3016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Char char="●"/>
            </a:pPr>
            <a:r>
              <a:rPr lang="pt-BR" sz="1150">
                <a:solidFill>
                  <a:schemeClr val="dk1"/>
                </a:solidFill>
              </a:rPr>
              <a:t>Melhoria continua do modelo</a:t>
            </a:r>
            <a:endParaRPr sz="11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pic>
        <p:nvPicPr>
          <p:cNvPr id="116" name="Google Shape;116;p21"/>
          <p:cNvPicPr preferRelativeResize="0"/>
          <p:nvPr/>
        </p:nvPicPr>
        <p:blipFill rotWithShape="1">
          <a:blip r:embed="rId3">
            <a:alphaModFix/>
          </a:blip>
          <a:srcRect b="77594" l="52526" r="0" t="0"/>
          <a:stretch/>
        </p:blipFill>
        <p:spPr>
          <a:xfrm>
            <a:off x="7783250" y="80725"/>
            <a:ext cx="1182175" cy="115247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1"/>
          <p:cNvSpPr txBox="1"/>
          <p:nvPr/>
        </p:nvSpPr>
        <p:spPr>
          <a:xfrm>
            <a:off x="3957900" y="1394650"/>
            <a:ext cx="5186100" cy="19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chemeClr val="dk1"/>
                </a:solidFill>
              </a:rPr>
              <a:t>Limitações: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 sz="1100">
                <a:solidFill>
                  <a:schemeClr val="dk1"/>
                </a:solidFill>
              </a:rPr>
              <a:t>Base de dados pequena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 sz="1100">
                <a:solidFill>
                  <a:schemeClr val="dk1"/>
                </a:solidFill>
              </a:rPr>
              <a:t>Dependência do usuário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 sz="1100">
                <a:solidFill>
                  <a:schemeClr val="dk1"/>
                </a:solidFill>
              </a:rPr>
              <a:t>Não substitui avaliação profissional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chemeClr val="dk1"/>
                </a:solidFill>
              </a:rPr>
              <a:t>Ameaças: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 sz="1100">
                <a:solidFill>
                  <a:schemeClr val="dk1"/>
                </a:solidFill>
              </a:rPr>
              <a:t>Dados inconsistentes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 sz="1100">
                <a:solidFill>
                  <a:schemeClr val="dk1"/>
                </a:solidFill>
              </a:rPr>
              <a:t>Viés nos registros</a:t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